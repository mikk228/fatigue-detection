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60" d="100"/>
          <a:sy n="160" d="100"/>
        </p:scale>
        <p:origin x="-610" y="-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9C33F-7973-4BA2-9AB0-226A9FB5FDBD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EE6F-8425-4783-99F9-A11C791BE1F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9C33F-7973-4BA2-9AB0-226A9FB5FDBD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EE6F-8425-4783-99F9-A11C791BE1F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9C33F-7973-4BA2-9AB0-226A9FB5FDBD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EE6F-8425-4783-99F9-A11C791BE1F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9C33F-7973-4BA2-9AB0-226A9FB5FDBD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EE6F-8425-4783-99F9-A11C791BE1F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9C33F-7973-4BA2-9AB0-226A9FB5FDBD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EE6F-8425-4783-99F9-A11C791BE1F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9C33F-7973-4BA2-9AB0-226A9FB5FDBD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EE6F-8425-4783-99F9-A11C791BE1F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9C33F-7973-4BA2-9AB0-226A9FB5FDBD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EE6F-8425-4783-99F9-A11C791BE1F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9C33F-7973-4BA2-9AB0-226A9FB5FDBD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EE6F-8425-4783-99F9-A11C791BE1F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9C33F-7973-4BA2-9AB0-226A9FB5FDBD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EE6F-8425-4783-99F9-A11C791BE1F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9C33F-7973-4BA2-9AB0-226A9FB5FDBD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EE6F-8425-4783-99F9-A11C791BE1F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9C33F-7973-4BA2-9AB0-226A9FB5FDBD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EE6F-8425-4783-99F9-A11C791BE1F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E9C33F-7973-4BA2-9AB0-226A9FB5FDBD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6EE6F-8425-4783-99F9-A11C791BE1F1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Nital\Desktop\ChatGPT Image 21 апр. 2025 г., 20_39_2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err="1" smtClean="0">
                <a:solidFill>
                  <a:schemeClr val="bg1"/>
                </a:solidFill>
                <a:latin typeface="Century Gothic" pitchFamily="34" charset="0"/>
              </a:rPr>
              <a:t>Детекция</a:t>
            </a:r>
            <a:r>
              <a:rPr lang="ru-RU" b="1" dirty="0" smtClean="0">
                <a:solidFill>
                  <a:schemeClr val="bg1"/>
                </a:solidFill>
                <a:latin typeface="Century Gothic" pitchFamily="34" charset="0"/>
              </a:rPr>
              <a:t> усталости</a:t>
            </a:r>
            <a:endParaRPr lang="ru-RU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86446" y="4071948"/>
            <a:ext cx="3200400" cy="942984"/>
          </a:xfrm>
        </p:spPr>
        <p:txBody>
          <a:bodyPr>
            <a:normAutofit fontScale="92500"/>
          </a:bodyPr>
          <a:lstStyle/>
          <a:p>
            <a:pPr algn="r"/>
            <a:r>
              <a:rPr lang="ru-RU" sz="2400" dirty="0" smtClean="0">
                <a:solidFill>
                  <a:schemeClr val="bg1"/>
                </a:solidFill>
                <a:latin typeface="Century Gothic" pitchFamily="34" charset="0"/>
              </a:rPr>
              <a:t>Выполнил</a:t>
            </a:r>
            <a:r>
              <a:rPr lang="en-US" sz="2400" dirty="0" smtClean="0">
                <a:solidFill>
                  <a:schemeClr val="bg1"/>
                </a:solidFill>
                <a:latin typeface="Century Gothic" pitchFamily="34" charset="0"/>
              </a:rPr>
              <a:t>: </a:t>
            </a:r>
            <a:endParaRPr lang="ru-RU" sz="2400" dirty="0" smtClean="0">
              <a:solidFill>
                <a:schemeClr val="bg1"/>
              </a:solidFill>
              <a:latin typeface="Century Gothic" pitchFamily="34" charset="0"/>
            </a:endParaRPr>
          </a:p>
          <a:p>
            <a:pPr algn="r"/>
            <a:r>
              <a:rPr lang="ru-RU" sz="2400" dirty="0" err="1" smtClean="0">
                <a:solidFill>
                  <a:schemeClr val="bg1"/>
                </a:solidFill>
                <a:latin typeface="Century Gothic" pitchFamily="34" charset="0"/>
              </a:rPr>
              <a:t>Предеин</a:t>
            </a:r>
            <a:r>
              <a:rPr lang="ru-RU" sz="2400" dirty="0" smtClean="0">
                <a:solidFill>
                  <a:schemeClr val="bg1"/>
                </a:solidFill>
                <a:latin typeface="Century Gothic" pitchFamily="34" charset="0"/>
              </a:rPr>
              <a:t> Михаил 10Б</a:t>
            </a:r>
            <a:endParaRPr lang="ru-RU" sz="2400" dirty="0">
              <a:solidFill>
                <a:schemeClr val="bg1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Nital\Desktop\ChatGPT Image 21 апр. 2025 г., 20_47_29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07"/>
            <a:ext cx="9144000" cy="5142893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2844" y="642924"/>
            <a:ext cx="1643074" cy="642942"/>
          </a:xfrm>
        </p:spPr>
        <p:txBody>
          <a:bodyPr>
            <a:noAutofit/>
          </a:bodyPr>
          <a:lstStyle/>
          <a:p>
            <a:pPr algn="l"/>
            <a:r>
              <a:rPr lang="ru-RU" sz="2000" b="1" dirty="0" smtClean="0">
                <a:solidFill>
                  <a:schemeClr val="bg1"/>
                </a:solidFill>
                <a:latin typeface="Century Gothic" pitchFamily="34" charset="0"/>
              </a:rPr>
              <a:t>Проблема</a:t>
            </a:r>
            <a:r>
              <a:rPr lang="en-US" sz="2000" b="1" dirty="0" smtClean="0">
                <a:solidFill>
                  <a:schemeClr val="bg1"/>
                </a:solidFill>
                <a:latin typeface="Century Gothic" pitchFamily="34" charset="0"/>
              </a:rPr>
              <a:t>:</a:t>
            </a:r>
            <a:endParaRPr lang="ru-RU" sz="2000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42844" y="1142990"/>
            <a:ext cx="6858048" cy="50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Century Gothic" pitchFamily="34" charset="0"/>
              </a:rPr>
              <a:t> </a:t>
            </a:r>
            <a:r>
              <a:rPr lang="ru-RU" sz="2000" dirty="0" smtClean="0">
                <a:solidFill>
                  <a:schemeClr val="bg1"/>
                </a:solidFill>
                <a:latin typeface="Century Gothic" pitchFamily="34" charset="0"/>
              </a:rPr>
              <a:t>20</a:t>
            </a:r>
            <a:r>
              <a:rPr lang="ru-RU" sz="2000" dirty="0">
                <a:solidFill>
                  <a:schemeClr val="bg1"/>
                </a:solidFill>
                <a:latin typeface="Century Gothic" pitchFamily="34" charset="0"/>
              </a:rPr>
              <a:t>% аварий происходят из-за усталости водителей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itchFamily="34" charset="0"/>
              <a:ea typeface="+mj-ea"/>
              <a:cs typeface="+mj-cs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142844" y="1571618"/>
            <a:ext cx="8929750" cy="50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Century Gothic" pitchFamily="34" charset="0"/>
              </a:rPr>
              <a:t> </a:t>
            </a:r>
            <a:r>
              <a:rPr lang="ru-RU" sz="2000" dirty="0" err="1" smtClean="0">
                <a:solidFill>
                  <a:schemeClr val="bg1"/>
                </a:solidFill>
                <a:latin typeface="Century Gothic" pitchFamily="34" charset="0"/>
              </a:rPr>
              <a:t>Микросон</a:t>
            </a:r>
            <a:r>
              <a:rPr lang="ru-RU" sz="2000" dirty="0" smtClean="0">
                <a:solidFill>
                  <a:schemeClr val="bg1"/>
                </a:solidFill>
                <a:latin typeface="Century Gothic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Century Gothic" pitchFamily="34" charset="0"/>
              </a:rPr>
              <a:t>(1-10 секунд) особенно опасен на высокой скорости.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142844" y="2571750"/>
            <a:ext cx="6858048" cy="13573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</a:pPr>
            <a:r>
              <a:rPr lang="ru-RU" sz="2000" b="1" dirty="0" smtClean="0">
                <a:solidFill>
                  <a:schemeClr val="bg1"/>
                </a:solidFill>
                <a:latin typeface="Century Gothic" pitchFamily="34" charset="0"/>
              </a:rPr>
              <a:t>Цель </a:t>
            </a:r>
            <a:r>
              <a:rPr lang="ru-RU" sz="2000" b="1" dirty="0">
                <a:solidFill>
                  <a:schemeClr val="bg1"/>
                </a:solidFill>
                <a:latin typeface="Century Gothic" pitchFamily="34" charset="0"/>
              </a:rPr>
              <a:t>работы</a:t>
            </a:r>
            <a:r>
              <a:rPr lang="ru-RU" sz="2000" b="1" dirty="0" smtClean="0">
                <a:solidFill>
                  <a:schemeClr val="bg1"/>
                </a:solidFill>
                <a:latin typeface="Century Gothic" pitchFamily="34" charset="0"/>
              </a:rPr>
              <a:t>:</a:t>
            </a:r>
            <a:r>
              <a:rPr lang="ru-RU" sz="2000" dirty="0" smtClean="0">
                <a:solidFill>
                  <a:schemeClr val="bg1"/>
                </a:solidFill>
                <a:latin typeface="Century Gothic" pitchFamily="34" charset="0"/>
              </a:rPr>
              <a:t/>
            </a:r>
            <a:br>
              <a:rPr lang="ru-RU" sz="2000" dirty="0" smtClean="0">
                <a:solidFill>
                  <a:schemeClr val="bg1"/>
                </a:solidFill>
                <a:latin typeface="Century Gothic" pitchFamily="34" charset="0"/>
              </a:rPr>
            </a:br>
            <a:r>
              <a:rPr lang="ru-RU" sz="2000" dirty="0">
                <a:solidFill>
                  <a:schemeClr val="bg1"/>
                </a:solidFill>
                <a:latin typeface="Century Gothic" pitchFamily="34" charset="0"/>
              </a:rPr>
              <a:t>Разработать </a:t>
            </a:r>
            <a:r>
              <a:rPr lang="ru-RU" sz="2000" dirty="0" err="1">
                <a:solidFill>
                  <a:schemeClr val="bg1"/>
                </a:solidFill>
                <a:latin typeface="Century Gothic" pitchFamily="34" charset="0"/>
              </a:rPr>
              <a:t>нейросеть</a:t>
            </a:r>
            <a:r>
              <a:rPr lang="ru-RU" sz="2000" dirty="0">
                <a:solidFill>
                  <a:schemeClr val="bg1"/>
                </a:solidFill>
                <a:latin typeface="Century Gothic" pitchFamily="34" charset="0"/>
              </a:rPr>
              <a:t> для определения состояния сна водителя в реальном времени.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Nital\Desktop\ChatGPT Image 21 апр. 2025 г., 20_47_29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2893"/>
          </a:xfrm>
          <a:prstGeom prst="rect">
            <a:avLst/>
          </a:prstGeom>
          <a:solidFill>
            <a:schemeClr val="tx1">
              <a:lumMod val="65000"/>
              <a:lumOff val="35000"/>
              <a:alpha val="25000"/>
            </a:schemeClr>
          </a:solidFill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71670" y="1214428"/>
            <a:ext cx="4429156" cy="642942"/>
          </a:xfrm>
        </p:spPr>
        <p:txBody>
          <a:bodyPr>
            <a:noAutofit/>
          </a:bodyPr>
          <a:lstStyle/>
          <a:p>
            <a:pPr algn="l"/>
            <a:r>
              <a:rPr lang="ru-RU" sz="2000" b="1" dirty="0" smtClean="0">
                <a:solidFill>
                  <a:schemeClr val="bg1"/>
                </a:solidFill>
                <a:latin typeface="Century Gothic" pitchFamily="34" charset="0"/>
              </a:rPr>
              <a:t>Причины усталости водителей</a:t>
            </a:r>
            <a:r>
              <a:rPr lang="en-US" sz="2000" b="1" dirty="0" smtClean="0">
                <a:solidFill>
                  <a:schemeClr val="bg1"/>
                </a:solidFill>
                <a:latin typeface="Century Gothic" pitchFamily="34" charset="0"/>
              </a:rPr>
              <a:t>:</a:t>
            </a:r>
            <a:endParaRPr lang="ru-RU" sz="2000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42844" y="2071684"/>
            <a:ext cx="2143140" cy="642942"/>
          </a:xfrm>
          <a:prstGeom prst="rect">
            <a:avLst/>
          </a:prstGeom>
          <a:solidFill>
            <a:schemeClr val="tx1">
              <a:lumMod val="65000"/>
              <a:lumOff val="35000"/>
              <a:alpha val="2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>
                <a:solidFill>
                  <a:schemeClr val="bg1"/>
                </a:solidFill>
                <a:latin typeface="Century Gothic" pitchFamily="34" charset="0"/>
              </a:rPr>
              <a:t> Длительное </a:t>
            </a:r>
            <a:r>
              <a:rPr lang="ru-RU" sz="2000" dirty="0">
                <a:solidFill>
                  <a:schemeClr val="bg1"/>
                </a:solidFill>
                <a:latin typeface="Century Gothic" pitchFamily="34" charset="0"/>
              </a:rPr>
              <a:t>управление ТС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itchFamily="34" charset="0"/>
              <a:ea typeface="+mj-ea"/>
              <a:cs typeface="+mj-cs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142844" y="2786064"/>
            <a:ext cx="2428892" cy="428628"/>
          </a:xfrm>
          <a:prstGeom prst="rect">
            <a:avLst/>
          </a:prstGeom>
          <a:solidFill>
            <a:schemeClr val="tx1">
              <a:lumMod val="65000"/>
              <a:lumOff val="35000"/>
              <a:alpha val="2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>
                <a:solidFill>
                  <a:schemeClr val="bg1"/>
                </a:solidFill>
                <a:latin typeface="Century Gothic" pitchFamily="34" charset="0"/>
              </a:rPr>
              <a:t> Недостаток </a:t>
            </a:r>
            <a:r>
              <a:rPr lang="ru-RU" sz="2000" dirty="0">
                <a:solidFill>
                  <a:schemeClr val="bg1"/>
                </a:solidFill>
                <a:latin typeface="Century Gothic" pitchFamily="34" charset="0"/>
              </a:rPr>
              <a:t>сна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itchFamily="34" charset="0"/>
              <a:ea typeface="+mj-ea"/>
              <a:cs typeface="+mj-cs"/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2928926" y="2428874"/>
            <a:ext cx="2214578" cy="642942"/>
          </a:xfrm>
          <a:prstGeom prst="rect">
            <a:avLst/>
          </a:prstGeom>
          <a:solidFill>
            <a:schemeClr val="tx1">
              <a:lumMod val="65000"/>
              <a:lumOff val="35000"/>
              <a:alpha val="2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>
                <a:solidFill>
                  <a:schemeClr val="bg1"/>
                </a:solidFill>
                <a:latin typeface="Century Gothic" pitchFamily="34" charset="0"/>
              </a:rPr>
              <a:t> Монотонность </a:t>
            </a:r>
            <a:r>
              <a:rPr lang="ru-RU" sz="2000" dirty="0">
                <a:solidFill>
                  <a:schemeClr val="bg1"/>
                </a:solidFill>
                <a:latin typeface="Century Gothic" pitchFamily="34" charset="0"/>
              </a:rPr>
              <a:t>движения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itchFamily="34" charset="0"/>
              <a:ea typeface="+mj-ea"/>
              <a:cs typeface="+mj-cs"/>
            </a:endParaRP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5572132" y="2071684"/>
            <a:ext cx="2500330" cy="500066"/>
          </a:xfrm>
          <a:prstGeom prst="rect">
            <a:avLst/>
          </a:prstGeom>
          <a:solidFill>
            <a:schemeClr val="tx1">
              <a:lumMod val="65000"/>
              <a:lumOff val="35000"/>
              <a:alpha val="2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>
                <a:solidFill>
                  <a:schemeClr val="bg1"/>
                </a:solidFill>
                <a:latin typeface="Century Gothic" pitchFamily="34" charset="0"/>
              </a:rPr>
              <a:t> Ночные </a:t>
            </a:r>
            <a:r>
              <a:rPr lang="ru-RU" sz="2000" dirty="0">
                <a:solidFill>
                  <a:schemeClr val="bg1"/>
                </a:solidFill>
                <a:latin typeface="Century Gothic" pitchFamily="34" charset="0"/>
              </a:rPr>
              <a:t>поездки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itchFamily="34" charset="0"/>
              <a:ea typeface="+mj-ea"/>
              <a:cs typeface="+mj-cs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5572132" y="2714626"/>
            <a:ext cx="3357586" cy="642942"/>
          </a:xfrm>
          <a:prstGeom prst="rect">
            <a:avLst/>
          </a:prstGeom>
          <a:solidFill>
            <a:schemeClr val="tx1">
              <a:lumMod val="65000"/>
              <a:lumOff val="35000"/>
              <a:alpha val="2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>
                <a:solidFill>
                  <a:schemeClr val="bg1"/>
                </a:solidFill>
                <a:latin typeface="Century Gothic" pitchFamily="34" charset="0"/>
              </a:rPr>
              <a:t> Употребление </a:t>
            </a:r>
            <a:r>
              <a:rPr lang="ru-RU" sz="2000" dirty="0">
                <a:solidFill>
                  <a:schemeClr val="bg1"/>
                </a:solidFill>
                <a:latin typeface="Century Gothic" pitchFamily="34" charset="0"/>
              </a:rPr>
              <a:t>алкоголя/медикаментов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Nital\Desktop\ChatGPT Image 21 апр. 2025 г., 20_47_29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07"/>
            <a:ext cx="9144000" cy="5142893"/>
          </a:xfrm>
          <a:prstGeom prst="rect">
            <a:avLst/>
          </a:prstGeom>
          <a:solidFill>
            <a:schemeClr val="tx1">
              <a:lumMod val="65000"/>
              <a:lumOff val="35000"/>
              <a:alpha val="25000"/>
            </a:schemeClr>
          </a:solidFill>
        </p:spPr>
      </p:pic>
      <p:sp>
        <p:nvSpPr>
          <p:cNvPr id="14" name="Заголовок 1"/>
          <p:cNvSpPr txBox="1">
            <a:spLocks/>
          </p:cNvSpPr>
          <p:nvPr/>
        </p:nvSpPr>
        <p:spPr>
          <a:xfrm>
            <a:off x="285720" y="714362"/>
            <a:ext cx="4929222" cy="9286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</a:pPr>
            <a:r>
              <a:rPr lang="ru-RU" sz="2000" b="1" noProof="0" dirty="0" err="1" smtClean="0">
                <a:solidFill>
                  <a:schemeClr val="bg1"/>
                </a:solidFill>
                <a:latin typeface="Century Gothic" pitchFamily="34" charset="0"/>
              </a:rPr>
              <a:t>Датасет</a:t>
            </a:r>
            <a:r>
              <a:rPr lang="en-US" sz="2000" b="1" noProof="0" dirty="0" smtClean="0">
                <a:solidFill>
                  <a:schemeClr val="bg1"/>
                </a:solidFill>
                <a:latin typeface="Century Gothic" pitchFamily="34" charset="0"/>
              </a:rPr>
              <a:t>: </a:t>
            </a:r>
            <a:r>
              <a:rPr lang="en-US" sz="2000" noProof="0" dirty="0" smtClean="0">
                <a:solidFill>
                  <a:schemeClr val="bg1"/>
                </a:solidFill>
                <a:latin typeface="Century Gothic" pitchFamily="34" charset="0"/>
              </a:rPr>
              <a:t>“</a:t>
            </a:r>
            <a:r>
              <a:rPr lang="en-US" sz="2000" dirty="0" smtClean="0">
                <a:solidFill>
                  <a:schemeClr val="bg1"/>
                </a:solidFill>
                <a:latin typeface="Century Gothic" pitchFamily="34" charset="0"/>
              </a:rPr>
              <a:t>Human </a:t>
            </a:r>
            <a:r>
              <a:rPr lang="en-US" sz="2000" dirty="0">
                <a:solidFill>
                  <a:schemeClr val="bg1"/>
                </a:solidFill>
                <a:latin typeface="Century Gothic" pitchFamily="34" charset="0"/>
              </a:rPr>
              <a:t>Eyes </a:t>
            </a:r>
            <a:r>
              <a:rPr lang="en-US" sz="2000" dirty="0" smtClean="0">
                <a:solidFill>
                  <a:schemeClr val="bg1"/>
                </a:solidFill>
                <a:latin typeface="Century Gothic" pitchFamily="34" charset="0"/>
              </a:rPr>
              <a:t>Open/Close”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itchFamily="34" charset="0"/>
              <a:ea typeface="+mj-ea"/>
              <a:cs typeface="+mj-cs"/>
            </a:endParaRPr>
          </a:p>
        </p:txBody>
      </p:sp>
      <p:pic>
        <p:nvPicPr>
          <p:cNvPr id="15362" name="Picture 2" descr="E:\mish\proj\dataset\asleep\s0001_00004_0_0_0_0_0_0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71736" y="3786196"/>
            <a:ext cx="714380" cy="714380"/>
          </a:xfrm>
          <a:prstGeom prst="rect">
            <a:avLst/>
          </a:prstGeom>
          <a:noFill/>
        </p:spPr>
      </p:pic>
      <p:pic>
        <p:nvPicPr>
          <p:cNvPr id="15363" name="Picture 3" descr="E:\mish\proj\dataset\awake\s0007_00618_0_0_1_0_0_0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71736" y="2571750"/>
            <a:ext cx="730251" cy="730251"/>
          </a:xfrm>
          <a:prstGeom prst="rect">
            <a:avLst/>
          </a:prstGeom>
          <a:noFill/>
        </p:spPr>
      </p:pic>
      <p:sp>
        <p:nvSpPr>
          <p:cNvPr id="15" name="Заголовок 1"/>
          <p:cNvSpPr txBox="1">
            <a:spLocks/>
          </p:cNvSpPr>
          <p:nvPr/>
        </p:nvSpPr>
        <p:spPr>
          <a:xfrm>
            <a:off x="285720" y="1643056"/>
            <a:ext cx="4929222" cy="714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</a:pP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itchFamily="34" charset="0"/>
                <a:ea typeface="+mj-ea"/>
                <a:cs typeface="+mj-cs"/>
              </a:rPr>
              <a:t>Содержит</a:t>
            </a:r>
            <a:r>
              <a:rPr kumimoji="0" lang="ru-RU" sz="2000" b="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itchFamily="34" charset="0"/>
                <a:ea typeface="+mj-ea"/>
                <a:cs typeface="+mj-cs"/>
              </a:rPr>
              <a:t> 80 тысяч изображений	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itchFamily="34" charset="0"/>
              <a:ea typeface="+mj-ea"/>
              <a:cs typeface="+mj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7224" y="2571750"/>
            <a:ext cx="12554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Century Gothic" pitchFamily="34" charset="0"/>
              </a:rPr>
              <a:t>Открытых</a:t>
            </a:r>
          </a:p>
          <a:p>
            <a:pPr algn="ctr"/>
            <a:r>
              <a:rPr lang="ru-RU" dirty="0" smtClean="0">
                <a:solidFill>
                  <a:schemeClr val="bg1"/>
                </a:solidFill>
                <a:latin typeface="Century Gothic" pitchFamily="34" charset="0"/>
              </a:rPr>
              <a:t>(</a:t>
            </a:r>
            <a:r>
              <a:rPr lang="en-US" dirty="0" smtClean="0">
                <a:solidFill>
                  <a:schemeClr val="bg1"/>
                </a:solidFill>
                <a:latin typeface="Century Gothic" pitchFamily="34" charset="0"/>
              </a:rPr>
              <a:t>awake</a:t>
            </a:r>
            <a:r>
              <a:rPr lang="ru-RU" dirty="0" smtClean="0">
                <a:solidFill>
                  <a:schemeClr val="bg1"/>
                </a:solidFill>
                <a:latin typeface="Century Gothic" pitchFamily="34" charset="0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5852" y="328613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Century Gothic" pitchFamily="34" charset="0"/>
              </a:rPr>
              <a:t>И</a:t>
            </a:r>
            <a:endParaRPr lang="ru-RU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7224" y="3714758"/>
            <a:ext cx="12586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Century Gothic" pitchFamily="34" charset="0"/>
              </a:rPr>
              <a:t>Закрытых</a:t>
            </a:r>
            <a:br>
              <a:rPr lang="ru-RU" dirty="0" smtClean="0">
                <a:solidFill>
                  <a:schemeClr val="bg1"/>
                </a:solidFill>
                <a:latin typeface="Century Gothic" pitchFamily="34" charset="0"/>
              </a:rPr>
            </a:br>
            <a:r>
              <a:rPr lang="ru-RU" dirty="0" smtClean="0">
                <a:solidFill>
                  <a:schemeClr val="bg1"/>
                </a:solidFill>
                <a:latin typeface="Century Gothic" pitchFamily="34" charset="0"/>
              </a:rPr>
              <a:t>(</a:t>
            </a:r>
            <a:r>
              <a:rPr lang="en-US" dirty="0" smtClean="0">
                <a:solidFill>
                  <a:schemeClr val="bg1"/>
                </a:solidFill>
                <a:latin typeface="Century Gothic" pitchFamily="34" charset="0"/>
              </a:rPr>
              <a:t>asleep</a:t>
            </a:r>
            <a:r>
              <a:rPr lang="ru-RU" dirty="0" smtClean="0">
                <a:solidFill>
                  <a:schemeClr val="bg1"/>
                </a:solidFill>
                <a:latin typeface="Century Gothic" pitchFamily="34" charset="0"/>
              </a:rPr>
              <a:t>)</a:t>
            </a:r>
            <a:endParaRPr lang="ru-RU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20" name="Заголовок 1"/>
          <p:cNvSpPr txBox="1">
            <a:spLocks/>
          </p:cNvSpPr>
          <p:nvPr/>
        </p:nvSpPr>
        <p:spPr>
          <a:xfrm>
            <a:off x="5500662" y="785800"/>
            <a:ext cx="3643338" cy="714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</a:pPr>
            <a:r>
              <a:rPr lang="ru-RU" sz="2000" b="1" dirty="0" smtClean="0">
                <a:solidFill>
                  <a:schemeClr val="bg1"/>
                </a:solidFill>
                <a:latin typeface="Century Gothic" pitchFamily="34" charset="0"/>
              </a:rPr>
              <a:t>Язык программирования</a:t>
            </a:r>
            <a:r>
              <a:rPr lang="en-US" sz="2000" b="1" noProof="0" dirty="0" smtClean="0">
                <a:solidFill>
                  <a:schemeClr val="bg1"/>
                </a:solidFill>
                <a:latin typeface="Century Gothic" pitchFamily="34" charset="0"/>
              </a:rPr>
              <a:t>:</a:t>
            </a:r>
            <a:endParaRPr lang="ru-RU" sz="2000" b="1" noProof="0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6715140" y="1357304"/>
            <a:ext cx="1143008" cy="5715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</a:pPr>
            <a:r>
              <a:rPr lang="en-US" sz="2000" dirty="0" smtClean="0">
                <a:solidFill>
                  <a:schemeClr val="bg1"/>
                </a:solidFill>
                <a:latin typeface="Century Gothic" pitchFamily="34" charset="0"/>
              </a:rPr>
              <a:t>Python</a:t>
            </a:r>
            <a:r>
              <a:rPr kumimoji="0" lang="ru-RU" sz="2000" b="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itchFamily="34" charset="0"/>
                <a:ea typeface="+mj-ea"/>
                <a:cs typeface="+mj-cs"/>
              </a:rPr>
              <a:t>	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itchFamily="34" charset="0"/>
              <a:ea typeface="+mj-ea"/>
              <a:cs typeface="+mj-cs"/>
            </a:endParaRPr>
          </a:p>
        </p:txBody>
      </p:sp>
      <p:sp>
        <p:nvSpPr>
          <p:cNvPr id="22" name="Заголовок 1"/>
          <p:cNvSpPr txBox="1">
            <a:spLocks/>
          </p:cNvSpPr>
          <p:nvPr/>
        </p:nvSpPr>
        <p:spPr>
          <a:xfrm>
            <a:off x="6357950" y="2071684"/>
            <a:ext cx="1785950" cy="714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</a:pPr>
            <a:r>
              <a:rPr lang="ru-RU" sz="2000" b="1" noProof="0" dirty="0" smtClean="0">
                <a:solidFill>
                  <a:schemeClr val="bg1"/>
                </a:solidFill>
                <a:latin typeface="Century Gothic" pitchFamily="34" charset="0"/>
              </a:rPr>
              <a:t>Библиотеки</a:t>
            </a:r>
            <a:r>
              <a:rPr lang="en-US" sz="2000" b="1" noProof="0" dirty="0" smtClean="0">
                <a:solidFill>
                  <a:schemeClr val="bg1"/>
                </a:solidFill>
                <a:latin typeface="Century Gothic" pitchFamily="34" charset="0"/>
              </a:rPr>
              <a:t>:</a:t>
            </a:r>
            <a:endParaRPr lang="ru-RU" sz="2000" b="1" noProof="0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6357950" y="2571750"/>
            <a:ext cx="1785950" cy="714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2000" dirty="0" err="1">
                <a:solidFill>
                  <a:schemeClr val="bg1"/>
                </a:solidFill>
                <a:latin typeface="Century Gothic" pitchFamily="34" charset="0"/>
              </a:rPr>
              <a:t>TensorFlow</a:t>
            </a:r>
            <a:endParaRPr lang="ru-RU" sz="2000" noProof="0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24" name="Заголовок 1"/>
          <p:cNvSpPr txBox="1">
            <a:spLocks/>
          </p:cNvSpPr>
          <p:nvPr/>
        </p:nvSpPr>
        <p:spPr>
          <a:xfrm>
            <a:off x="6357950" y="3000378"/>
            <a:ext cx="1785950" cy="714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2000" dirty="0" err="1">
                <a:solidFill>
                  <a:schemeClr val="bg1"/>
                </a:solidFill>
                <a:latin typeface="Century Gothic" pitchFamily="34" charset="0"/>
              </a:rPr>
              <a:t>OpenCV</a:t>
            </a:r>
            <a:endParaRPr lang="ru-RU" sz="2000" noProof="0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25" name="Заголовок 1"/>
          <p:cNvSpPr txBox="1">
            <a:spLocks/>
          </p:cNvSpPr>
          <p:nvPr/>
        </p:nvSpPr>
        <p:spPr>
          <a:xfrm>
            <a:off x="6357950" y="3429006"/>
            <a:ext cx="1785950" cy="714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2000" dirty="0" err="1">
                <a:solidFill>
                  <a:schemeClr val="bg1"/>
                </a:solidFill>
                <a:latin typeface="Century Gothic" pitchFamily="34" charset="0"/>
              </a:rPr>
              <a:t>NumPy</a:t>
            </a:r>
            <a:endParaRPr lang="ru-RU" sz="2000" noProof="0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pic>
        <p:nvPicPr>
          <p:cNvPr id="15366" name="Picture 6" descr="Picture background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715272" y="1428742"/>
            <a:ext cx="428628" cy="428628"/>
          </a:xfrm>
          <a:prstGeom prst="rect">
            <a:avLst/>
          </a:prstGeom>
          <a:noFill/>
        </p:spPr>
      </p:pic>
      <p:pic>
        <p:nvPicPr>
          <p:cNvPr id="15368" name="Picture 8" descr="Picture background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001025" y="2714626"/>
            <a:ext cx="357190" cy="383069"/>
          </a:xfrm>
          <a:prstGeom prst="rect">
            <a:avLst/>
          </a:prstGeom>
          <a:noFill/>
        </p:spPr>
      </p:pic>
      <p:pic>
        <p:nvPicPr>
          <p:cNvPr id="15371" name="Picture 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858148" y="3143255"/>
            <a:ext cx="37632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375" name="AutoShape 15" descr="Picture background"/>
          <p:cNvSpPr>
            <a:spLocks noChangeAspect="1" noChangeArrowheads="1"/>
          </p:cNvSpPr>
          <p:nvPr/>
        </p:nvSpPr>
        <p:spPr bwMode="auto">
          <a:xfrm>
            <a:off x="155575" y="-136525"/>
            <a:ext cx="298450" cy="2984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5377" name="AutoShape 17" descr="Picture background"/>
          <p:cNvSpPr>
            <a:spLocks noChangeAspect="1" noChangeArrowheads="1"/>
          </p:cNvSpPr>
          <p:nvPr/>
        </p:nvSpPr>
        <p:spPr bwMode="auto">
          <a:xfrm>
            <a:off x="155575" y="-136525"/>
            <a:ext cx="298450" cy="2984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5379" name="Picture 19" descr="https://static.tildacdn.com/tild3764-3761-4839-a161-363235303632/4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572396" y="3500444"/>
            <a:ext cx="714380" cy="7263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Nital\Desktop\ChatGPT Image 21 апр. 2025 г., 20_47_29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2893"/>
          </a:xfrm>
          <a:prstGeom prst="rect">
            <a:avLst/>
          </a:prstGeom>
          <a:solidFill>
            <a:schemeClr val="tx1">
              <a:lumMod val="65000"/>
              <a:lumOff val="35000"/>
              <a:alpha val="25000"/>
            </a:schemeClr>
          </a:solidFill>
        </p:spPr>
      </p:pic>
      <p:sp>
        <p:nvSpPr>
          <p:cNvPr id="10" name="Заголовок 1"/>
          <p:cNvSpPr>
            <a:spLocks noGrp="1"/>
          </p:cNvSpPr>
          <p:nvPr>
            <p:ph type="ctrTitle"/>
          </p:nvPr>
        </p:nvSpPr>
        <p:spPr>
          <a:xfrm>
            <a:off x="2428860" y="428610"/>
            <a:ext cx="4429156" cy="642942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solidFill>
                  <a:schemeClr val="bg1"/>
                </a:solidFill>
                <a:latin typeface="Century Gothic" pitchFamily="34" charset="0"/>
              </a:rPr>
              <a:t>Структура </a:t>
            </a:r>
            <a:r>
              <a:rPr lang="ru-RU" sz="2800" b="1" dirty="0" err="1" smtClean="0">
                <a:solidFill>
                  <a:schemeClr val="bg1"/>
                </a:solidFill>
                <a:latin typeface="Century Gothic" pitchFamily="34" charset="0"/>
              </a:rPr>
              <a:t>нейросети</a:t>
            </a:r>
            <a:endParaRPr lang="ru-RU" sz="2800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6858016" y="2571750"/>
            <a:ext cx="1785950" cy="12858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ru-RU" dirty="0">
                <a:solidFill>
                  <a:schemeClr val="bg1"/>
                </a:solidFill>
                <a:latin typeface="Century Gothic" pitchFamily="34" charset="0"/>
              </a:rPr>
              <a:t>Выходной слой с </a:t>
            </a:r>
            <a:r>
              <a:rPr lang="ru-RU" dirty="0" err="1">
                <a:solidFill>
                  <a:schemeClr val="bg1"/>
                </a:solidFill>
                <a:latin typeface="Century Gothic" pitchFamily="34" charset="0"/>
              </a:rPr>
              <a:t>сигмоидной</a:t>
            </a:r>
            <a:r>
              <a:rPr lang="ru-RU" dirty="0">
                <a:solidFill>
                  <a:schemeClr val="bg1"/>
                </a:solidFill>
                <a:latin typeface="Century Gothic" pitchFamily="34" charset="0"/>
              </a:rPr>
              <a:t> активацией</a:t>
            </a:r>
            <a:endParaRPr lang="ru-RU" noProof="0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4786314" y="2571750"/>
            <a:ext cx="1785950" cy="13573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ru-RU" dirty="0" err="1">
                <a:solidFill>
                  <a:schemeClr val="bg1"/>
                </a:solidFill>
                <a:latin typeface="Century Gothic" pitchFamily="34" charset="0"/>
              </a:rPr>
              <a:t>Полносвязный</a:t>
            </a:r>
            <a:r>
              <a:rPr lang="ru-RU" dirty="0">
                <a:solidFill>
                  <a:schemeClr val="bg1"/>
                </a:solidFill>
                <a:latin typeface="Century Gothic" pitchFamily="34" charset="0"/>
              </a:rPr>
              <a:t> слой (</a:t>
            </a:r>
            <a:r>
              <a:rPr lang="ru-RU" dirty="0" err="1">
                <a:solidFill>
                  <a:schemeClr val="bg1"/>
                </a:solidFill>
                <a:latin typeface="Century Gothic" pitchFamily="34" charset="0"/>
              </a:rPr>
              <a:t>Dense</a:t>
            </a:r>
            <a:r>
              <a:rPr lang="ru-RU" dirty="0">
                <a:solidFill>
                  <a:schemeClr val="bg1"/>
                </a:solidFill>
                <a:latin typeface="Century Gothic" pitchFamily="34" charset="0"/>
              </a:rPr>
              <a:t>) и </a:t>
            </a:r>
            <a:r>
              <a:rPr lang="ru-RU" dirty="0" err="1">
                <a:solidFill>
                  <a:schemeClr val="bg1"/>
                </a:solidFill>
                <a:latin typeface="Century Gothic" pitchFamily="34" charset="0"/>
              </a:rPr>
              <a:t>Dropout</a:t>
            </a:r>
            <a:endParaRPr lang="ru-RU" noProof="0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2500298" y="2571750"/>
            <a:ext cx="2000264" cy="13573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ru-RU" dirty="0">
                <a:solidFill>
                  <a:schemeClr val="bg1"/>
                </a:solidFill>
                <a:latin typeface="Century Gothic" pitchFamily="34" charset="0"/>
              </a:rPr>
              <a:t>Слои </a:t>
            </a:r>
            <a:r>
              <a:rPr lang="en-US" dirty="0">
                <a:solidFill>
                  <a:schemeClr val="bg1"/>
                </a:solidFill>
                <a:latin typeface="Century Gothic" pitchFamily="34" charset="0"/>
              </a:rPr>
              <a:t>MaxPooling2D</a:t>
            </a:r>
            <a:endParaRPr lang="ru-RU" noProof="0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6" name="Заголовок 1"/>
          <p:cNvSpPr txBox="1">
            <a:spLocks/>
          </p:cNvSpPr>
          <p:nvPr/>
        </p:nvSpPr>
        <p:spPr>
          <a:xfrm>
            <a:off x="357158" y="2571750"/>
            <a:ext cx="1785950" cy="13573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ru-RU" dirty="0" err="1">
                <a:solidFill>
                  <a:schemeClr val="bg1"/>
                </a:solidFill>
                <a:latin typeface="Century Gothic" pitchFamily="34" charset="0"/>
              </a:rPr>
              <a:t>Свёрточные</a:t>
            </a:r>
            <a:r>
              <a:rPr lang="ru-RU" dirty="0">
                <a:solidFill>
                  <a:schemeClr val="bg1"/>
                </a:solidFill>
                <a:latin typeface="Century Gothic" pitchFamily="34" charset="0"/>
              </a:rPr>
              <a:t> слои (Conv2D) с </a:t>
            </a:r>
            <a:r>
              <a:rPr lang="ru-RU" dirty="0" err="1">
                <a:solidFill>
                  <a:schemeClr val="bg1"/>
                </a:solidFill>
                <a:latin typeface="Century Gothic" pitchFamily="34" charset="0"/>
              </a:rPr>
              <a:t>ReLU</a:t>
            </a:r>
            <a:endParaRPr lang="ru-RU" noProof="0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20" name="Заголовок 1"/>
          <p:cNvSpPr txBox="1">
            <a:spLocks/>
          </p:cNvSpPr>
          <p:nvPr/>
        </p:nvSpPr>
        <p:spPr>
          <a:xfrm>
            <a:off x="3571868" y="1285866"/>
            <a:ext cx="1857388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</a:pPr>
            <a:r>
              <a:rPr lang="ru-RU" sz="2000" dirty="0">
                <a:solidFill>
                  <a:schemeClr val="bg1"/>
                </a:solidFill>
                <a:latin typeface="Century Gothic" pitchFamily="34" charset="0"/>
              </a:rPr>
              <a:t>Модель </a:t>
            </a:r>
            <a:r>
              <a:rPr lang="en-US" sz="2000" dirty="0">
                <a:solidFill>
                  <a:schemeClr val="bg1"/>
                </a:solidFill>
                <a:latin typeface="Century Gothic" pitchFamily="34" charset="0"/>
              </a:rPr>
              <a:t>CNN</a:t>
            </a:r>
            <a:endParaRPr kumimoji="0" lang="ru-RU" sz="2000" i="0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itchFamily="34" charset="0"/>
              <a:ea typeface="+mj-ea"/>
              <a:cs typeface="+mj-cs"/>
            </a:endParaRPr>
          </a:p>
        </p:txBody>
      </p:sp>
      <p:cxnSp>
        <p:nvCxnSpPr>
          <p:cNvPr id="23" name="Прямая со стрелкой 22"/>
          <p:cNvCxnSpPr/>
          <p:nvPr/>
        </p:nvCxnSpPr>
        <p:spPr>
          <a:xfrm>
            <a:off x="1785918" y="2500312"/>
            <a:ext cx="121444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Овал 25"/>
          <p:cNvSpPr/>
          <p:nvPr/>
        </p:nvSpPr>
        <p:spPr>
          <a:xfrm>
            <a:off x="1214414" y="242887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/>
          <p:cNvSpPr/>
          <p:nvPr/>
        </p:nvSpPr>
        <p:spPr>
          <a:xfrm>
            <a:off x="3428992" y="242887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5572132" y="242887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/>
          <p:cNvSpPr/>
          <p:nvPr/>
        </p:nvSpPr>
        <p:spPr>
          <a:xfrm>
            <a:off x="7643834" y="242887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1" name="Прямая со стрелкой 30"/>
          <p:cNvCxnSpPr/>
          <p:nvPr/>
        </p:nvCxnSpPr>
        <p:spPr>
          <a:xfrm>
            <a:off x="4000496" y="2500312"/>
            <a:ext cx="121444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/>
          <p:nvPr/>
        </p:nvCxnSpPr>
        <p:spPr>
          <a:xfrm>
            <a:off x="6072198" y="2500312"/>
            <a:ext cx="121444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Nital\Desktop\ChatGPT Image 21 апр. 2025 г., 20_47_29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2893"/>
          </a:xfrm>
          <a:prstGeom prst="rect">
            <a:avLst/>
          </a:prstGeom>
          <a:solidFill>
            <a:schemeClr val="tx1">
              <a:lumMod val="65000"/>
              <a:lumOff val="35000"/>
              <a:alpha val="25000"/>
            </a:schemeClr>
          </a:solidFill>
        </p:spPr>
      </p:pic>
      <p:sp>
        <p:nvSpPr>
          <p:cNvPr id="18" name="Заголовок 1"/>
          <p:cNvSpPr>
            <a:spLocks noGrp="1"/>
          </p:cNvSpPr>
          <p:nvPr>
            <p:ph type="ctrTitle"/>
          </p:nvPr>
        </p:nvSpPr>
        <p:spPr>
          <a:xfrm>
            <a:off x="1428728" y="428610"/>
            <a:ext cx="6429420" cy="642942"/>
          </a:xfrm>
        </p:spPr>
        <p:txBody>
          <a:bodyPr>
            <a:no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Century Gothic" pitchFamily="34" charset="0"/>
              </a:rPr>
              <a:t>Реализация в реальном времени</a:t>
            </a:r>
          </a:p>
        </p:txBody>
      </p:sp>
      <p:sp>
        <p:nvSpPr>
          <p:cNvPr id="19" name="Заголовок 1"/>
          <p:cNvSpPr txBox="1">
            <a:spLocks/>
          </p:cNvSpPr>
          <p:nvPr/>
        </p:nvSpPr>
        <p:spPr>
          <a:xfrm>
            <a:off x="428596" y="1214428"/>
            <a:ext cx="1571636" cy="10715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ru-RU" dirty="0">
                <a:solidFill>
                  <a:schemeClr val="bg1"/>
                </a:solidFill>
                <a:latin typeface="Century Gothic" pitchFamily="34" charset="0"/>
              </a:rPr>
              <a:t>Загрузка модели</a:t>
            </a:r>
            <a:endParaRPr lang="ru-RU" noProof="0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3143240" y="1357304"/>
            <a:ext cx="2214578" cy="9286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ru-RU" dirty="0" err="1">
                <a:solidFill>
                  <a:schemeClr val="bg1"/>
                </a:solidFill>
                <a:latin typeface="Century Gothic" pitchFamily="34" charset="0"/>
              </a:rPr>
              <a:t>Детекция</a:t>
            </a:r>
            <a:r>
              <a:rPr lang="ru-RU" dirty="0">
                <a:solidFill>
                  <a:schemeClr val="bg1"/>
                </a:solidFill>
                <a:latin typeface="Century Gothic" pitchFamily="34" charset="0"/>
              </a:rPr>
              <a:t> глаз (каскады Хаара, </a:t>
            </a:r>
            <a:r>
              <a:rPr lang="ru-RU" dirty="0" err="1">
                <a:solidFill>
                  <a:schemeClr val="bg1"/>
                </a:solidFill>
                <a:latin typeface="Century Gothic" pitchFamily="34" charset="0"/>
              </a:rPr>
              <a:t>OpenCV</a:t>
            </a:r>
            <a:r>
              <a:rPr lang="ru-RU" dirty="0">
                <a:solidFill>
                  <a:schemeClr val="bg1"/>
                </a:solidFill>
                <a:latin typeface="Century Gothic" pitchFamily="34" charset="0"/>
              </a:rPr>
              <a:t>)</a:t>
            </a:r>
            <a:endParaRPr lang="ru-RU" noProof="0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22" name="Заголовок 1"/>
          <p:cNvSpPr txBox="1">
            <a:spLocks/>
          </p:cNvSpPr>
          <p:nvPr/>
        </p:nvSpPr>
        <p:spPr>
          <a:xfrm>
            <a:off x="6215074" y="1285866"/>
            <a:ext cx="2214578" cy="10715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ru-RU" dirty="0">
                <a:solidFill>
                  <a:schemeClr val="bg1"/>
                </a:solidFill>
                <a:latin typeface="Century Gothic" pitchFamily="34" charset="0"/>
              </a:rPr>
              <a:t>Классификация состояния</a:t>
            </a:r>
            <a:endParaRPr lang="ru-RU" noProof="0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24" name="Заголовок 1"/>
          <p:cNvSpPr txBox="1">
            <a:spLocks/>
          </p:cNvSpPr>
          <p:nvPr/>
        </p:nvSpPr>
        <p:spPr>
          <a:xfrm>
            <a:off x="1428728" y="2643188"/>
            <a:ext cx="6429420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800" b="1" dirty="0" smtClean="0">
                <a:solidFill>
                  <a:schemeClr val="bg1"/>
                </a:solidFill>
                <a:latin typeface="Century Gothic" pitchFamily="34" charset="0"/>
                <a:ea typeface="+mj-ea"/>
                <a:cs typeface="+mj-cs"/>
              </a:rPr>
              <a:t>Результаты тестирования</a:t>
            </a:r>
            <a:endParaRPr kumimoji="0" lang="ru-RU" sz="2800" b="1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entury Gothic" pitchFamily="34" charset="0"/>
              <a:ea typeface="+mj-ea"/>
              <a:cs typeface="+mj-cs"/>
            </a:endParaRPr>
          </a:p>
        </p:txBody>
      </p:sp>
      <p:sp>
        <p:nvSpPr>
          <p:cNvPr id="25" name="Заголовок 1"/>
          <p:cNvSpPr txBox="1">
            <a:spLocks/>
          </p:cNvSpPr>
          <p:nvPr/>
        </p:nvSpPr>
        <p:spPr>
          <a:xfrm>
            <a:off x="500034" y="3643320"/>
            <a:ext cx="1857388" cy="10715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ru-RU" dirty="0" smtClean="0">
                <a:solidFill>
                  <a:schemeClr val="bg1"/>
                </a:solidFill>
                <a:latin typeface="Century Gothic" pitchFamily="34" charset="0"/>
              </a:rPr>
              <a:t>90</a:t>
            </a:r>
            <a:r>
              <a:rPr lang="ru-RU" dirty="0">
                <a:solidFill>
                  <a:schemeClr val="bg1"/>
                </a:solidFill>
                <a:latin typeface="Century Gothic" pitchFamily="34" charset="0"/>
              </a:rPr>
              <a:t>% (нормальное освещение)</a:t>
            </a:r>
            <a:endParaRPr lang="ru-RU" noProof="0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285984" y="3571882"/>
            <a:ext cx="2928958" cy="10715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ru-RU" dirty="0">
                <a:solidFill>
                  <a:schemeClr val="bg1"/>
                </a:solidFill>
                <a:latin typeface="Century Gothic" pitchFamily="34" charset="0"/>
              </a:rPr>
              <a:t>85</a:t>
            </a:r>
            <a:r>
              <a:rPr lang="ru-RU" dirty="0" smtClean="0">
                <a:solidFill>
                  <a:schemeClr val="bg1"/>
                </a:solidFill>
                <a:latin typeface="Century Gothic" pitchFamily="34" charset="0"/>
              </a:rPr>
              <a:t>%</a:t>
            </a:r>
          </a:p>
          <a:p>
            <a:pPr lvl="0" algn="ctr">
              <a:spcBef>
                <a:spcPct val="0"/>
              </a:spcBef>
            </a:pPr>
            <a:r>
              <a:rPr lang="ru-RU" dirty="0" smtClean="0">
                <a:solidFill>
                  <a:schemeClr val="bg1"/>
                </a:solidFill>
                <a:latin typeface="Century Gothic" pitchFamily="34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Century Gothic" pitchFamily="34" charset="0"/>
              </a:rPr>
              <a:t>(слабое освещение)</a:t>
            </a:r>
            <a:endParaRPr lang="ru-RU" noProof="0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33" name="Заголовок 1"/>
          <p:cNvSpPr txBox="1">
            <a:spLocks/>
          </p:cNvSpPr>
          <p:nvPr/>
        </p:nvSpPr>
        <p:spPr>
          <a:xfrm>
            <a:off x="5857884" y="3214692"/>
            <a:ext cx="1928826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ru-RU" dirty="0">
                <a:solidFill>
                  <a:schemeClr val="bg1"/>
                </a:solidFill>
                <a:latin typeface="Century Gothic" pitchFamily="34" charset="0"/>
              </a:rPr>
              <a:t>Задержка</a:t>
            </a:r>
            <a:r>
              <a:rPr lang="ru-RU" dirty="0" smtClean="0">
                <a:solidFill>
                  <a:schemeClr val="bg1"/>
                </a:solidFill>
                <a:latin typeface="Century Gothic" pitchFamily="34" charset="0"/>
              </a:rPr>
              <a:t>:</a:t>
            </a:r>
          </a:p>
        </p:txBody>
      </p:sp>
      <p:sp>
        <p:nvSpPr>
          <p:cNvPr id="34" name="Заголовок 1"/>
          <p:cNvSpPr txBox="1">
            <a:spLocks/>
          </p:cNvSpPr>
          <p:nvPr/>
        </p:nvSpPr>
        <p:spPr>
          <a:xfrm>
            <a:off x="1928794" y="3214692"/>
            <a:ext cx="1357322" cy="6429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ru-RU" dirty="0">
                <a:solidFill>
                  <a:schemeClr val="bg1"/>
                </a:solidFill>
                <a:latin typeface="Century Gothic" pitchFamily="34" charset="0"/>
              </a:rPr>
              <a:t>Точность:</a:t>
            </a:r>
            <a:endParaRPr lang="ru-RU" noProof="0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36" name="Прямоугольник 35"/>
          <p:cNvSpPr/>
          <p:nvPr/>
        </p:nvSpPr>
        <p:spPr>
          <a:xfrm>
            <a:off x="5929322" y="3857634"/>
            <a:ext cx="17859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ru-RU" dirty="0" smtClean="0">
                <a:solidFill>
                  <a:schemeClr val="bg1"/>
                </a:solidFill>
                <a:latin typeface="Century Gothic" pitchFamily="34" charset="0"/>
              </a:rPr>
              <a:t> 27 мс/кадр</a:t>
            </a:r>
            <a:endParaRPr lang="ru-RU" noProof="0" dirty="0" smtClean="0">
              <a:solidFill>
                <a:schemeClr val="bg1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Nital\Desktop\ChatGPT Image 21 апр. 2025 г., 20_39_2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>
          <a:xfrm>
            <a:off x="785786" y="142858"/>
            <a:ext cx="7772400" cy="1102519"/>
          </a:xfrm>
        </p:spPr>
        <p:txBody>
          <a:bodyPr>
            <a:normAutofit/>
          </a:bodyPr>
          <a:lstStyle/>
          <a:p>
            <a:r>
              <a:rPr lang="ru-RU" sz="2800" b="1" dirty="0" smtClean="0">
                <a:solidFill>
                  <a:schemeClr val="bg1"/>
                </a:solidFill>
                <a:latin typeface="Century Gothic" pitchFamily="34" charset="0"/>
              </a:rPr>
              <a:t>Заключение</a:t>
            </a:r>
            <a:endParaRPr lang="ru-RU" sz="2800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214810" y="3143255"/>
            <a:ext cx="15716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Century Gothic" pitchFamily="34" charset="0"/>
              </a:rPr>
              <a:t>Значение</a:t>
            </a:r>
            <a:r>
              <a:rPr lang="ru-RU" b="1" dirty="0" smtClean="0">
                <a:solidFill>
                  <a:schemeClr val="bg1"/>
                </a:solidFill>
                <a:latin typeface="Century Gothic" pitchFamily="34" charset="0"/>
              </a:rPr>
              <a:t>:</a:t>
            </a:r>
            <a:endParaRPr lang="ru-RU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14282" y="1285866"/>
            <a:ext cx="9286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Century Gothic" pitchFamily="34" charset="0"/>
              </a:rPr>
              <a:t>Итоги:</a:t>
            </a:r>
            <a:endParaRPr lang="ru-RU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28596" y="1714494"/>
            <a:ext cx="4756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Century Gothic" pitchFamily="34" charset="0"/>
              </a:rPr>
              <a:t>Подтверждена гипотеза исследования.</a:t>
            </a:r>
            <a:endParaRPr lang="ru-RU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28596" y="214312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entury Gothic" pitchFamily="34" charset="0"/>
              </a:rPr>
              <a:t>Алгоритм успешно классифицирует состояние глаз.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572000" y="357188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Century Gothic" pitchFamily="34" charset="0"/>
              </a:rPr>
              <a:t>Повышение безопасности на дорогах за счёт предотвращения аварий из-за усталости.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Nital\Desktop\ChatGPT Image 21 апр. 2025 г., 20_39_2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14348" y="1357304"/>
            <a:ext cx="7772400" cy="1102519"/>
          </a:xfrm>
        </p:spPr>
        <p:txBody>
          <a:bodyPr/>
          <a:lstStyle/>
          <a:p>
            <a:r>
              <a:rPr lang="ru-RU" b="1" dirty="0" smtClean="0">
                <a:solidFill>
                  <a:schemeClr val="bg1"/>
                </a:solidFill>
                <a:latin typeface="Century Gothic" pitchFamily="34" charset="0"/>
              </a:rPr>
              <a:t>Спасибо за внимание</a:t>
            </a:r>
            <a:endParaRPr lang="ru-RU" b="1" dirty="0">
              <a:solidFill>
                <a:schemeClr val="bg1"/>
              </a:solidFill>
              <a:latin typeface="Century Gothic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86446" y="4071948"/>
            <a:ext cx="3200400" cy="942984"/>
          </a:xfrm>
        </p:spPr>
        <p:txBody>
          <a:bodyPr>
            <a:normAutofit fontScale="92500"/>
          </a:bodyPr>
          <a:lstStyle/>
          <a:p>
            <a:pPr algn="r"/>
            <a:r>
              <a:rPr lang="ru-RU" sz="2400" dirty="0" smtClean="0">
                <a:solidFill>
                  <a:schemeClr val="bg1"/>
                </a:solidFill>
                <a:latin typeface="Century Gothic" pitchFamily="34" charset="0"/>
              </a:rPr>
              <a:t>Выполнил</a:t>
            </a:r>
            <a:r>
              <a:rPr lang="en-US" sz="2400" dirty="0" smtClean="0">
                <a:solidFill>
                  <a:schemeClr val="bg1"/>
                </a:solidFill>
                <a:latin typeface="Century Gothic" pitchFamily="34" charset="0"/>
              </a:rPr>
              <a:t>: </a:t>
            </a:r>
            <a:endParaRPr lang="ru-RU" sz="2400" dirty="0" smtClean="0">
              <a:solidFill>
                <a:schemeClr val="bg1"/>
              </a:solidFill>
              <a:latin typeface="Century Gothic" pitchFamily="34" charset="0"/>
            </a:endParaRPr>
          </a:p>
          <a:p>
            <a:pPr algn="r"/>
            <a:r>
              <a:rPr lang="ru-RU" sz="2400" dirty="0" err="1" smtClean="0">
                <a:solidFill>
                  <a:schemeClr val="bg1"/>
                </a:solidFill>
                <a:latin typeface="Century Gothic" pitchFamily="34" charset="0"/>
              </a:rPr>
              <a:t>Предеин</a:t>
            </a:r>
            <a:r>
              <a:rPr lang="ru-RU" sz="2400" dirty="0" smtClean="0">
                <a:solidFill>
                  <a:schemeClr val="bg1"/>
                </a:solidFill>
                <a:latin typeface="Century Gothic" pitchFamily="34" charset="0"/>
              </a:rPr>
              <a:t> Михаил 10Б</a:t>
            </a:r>
            <a:endParaRPr lang="ru-RU" sz="2400" dirty="0">
              <a:solidFill>
                <a:schemeClr val="bg1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175</Words>
  <Application>Microsoft Office PowerPoint</Application>
  <PresentationFormat>Экран (16:9)</PresentationFormat>
  <Paragraphs>51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Детекция усталости</vt:lpstr>
      <vt:lpstr>Проблема:</vt:lpstr>
      <vt:lpstr>Причины усталости водителей:</vt:lpstr>
      <vt:lpstr>Слайд 4</vt:lpstr>
      <vt:lpstr>Структура нейросети</vt:lpstr>
      <vt:lpstr>Реализация в реальном времени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Детекия усталости</dc:title>
  <dc:creator>Nital</dc:creator>
  <cp:lastModifiedBy>Nital</cp:lastModifiedBy>
  <cp:revision>8</cp:revision>
  <dcterms:created xsi:type="dcterms:W3CDTF">2025-04-21T13:41:19Z</dcterms:created>
  <dcterms:modified xsi:type="dcterms:W3CDTF">2025-04-21T14:54:30Z</dcterms:modified>
</cp:coreProperties>
</file>